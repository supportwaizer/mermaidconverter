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44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AA68D-A8C5-F859-39B8-139709FF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96AEF-B6F3-E1D6-3882-5CE151B5F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E00CD-4CE5-AEBB-365A-33F2598AB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back to these four questions on the final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F34C4-19AB-848F-9340-A22E770AF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68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three [X] figures with current data from Jira. If the numbers are unavailable, use one concrete recent example of a routine review that waited a long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back to these four questions on the final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idea is the loop: decisions from step 3 are published in step 4, so the next similar design can be approved as Green in step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gain: fewer tickets and one tollgate entry. Then reassure: rigor per asset does not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where the tools appear: teams run the agent in step 1, reviewers use it in step 3, and step 6 feeds new decisions back into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 obvious question up front: reviewers sit inside the portfolio, but never review their own design, and Solution Architecture spot-checks Green approvals. Replace [X]% with the agreed sampling rate. ODT/ARC may need spelling out for this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team audience cares most about. Confirm the document list matches your current required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coverage matters: the model only works as well as the repository is complete. Be honest about gaps and how they will be filled.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that this is an MVP. Findings are advice. Ask teams to report false positives or misses so the agent and the repository improve.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timing placeholders with the real schedule for this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four questions from slide 3. Close on the two concrete asks and the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5754-7370-88A7-F9EA-61DA1075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8EB96C-E7DD-83C8-8CF8-987D2F7F0686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AE127E1-A67F-61FF-0EB4-17ABD544517D}"/>
              </a:ext>
            </a:extLst>
          </p:cNvPr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E48AEA-EF30-C5D5-64D4-F47C2E778F47}"/>
              </a:ext>
            </a:extLst>
          </p:cNvPr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57AD69-24F3-8F88-F8E9-F21D1B480172}"/>
              </a:ext>
            </a:extLst>
          </p:cNvPr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3</a:t>
            </a:r>
            <a:endParaRPr lang="en-US" sz="9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B9070A6C-8E63-B36D-C9C7-92CACD95C941}"/>
              </a:ext>
            </a:extLst>
          </p:cNvPr>
          <p:cNvSpPr txBox="1"/>
          <p:nvPr/>
        </p:nvSpPr>
        <p:spPr>
          <a:xfrm>
            <a:off x="731520" y="15544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Architecture Review Process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20598ED5-E691-CB22-94D5-0848118E4D16}"/>
              </a:ext>
            </a:extLst>
          </p:cNvPr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Application Portfolio Teams, and what happens next</a:t>
            </a:r>
            <a:endParaRPr lang="en-US" sz="22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AA79CDA0-666D-06E2-5B41-DC11DD243F67}"/>
              </a:ext>
            </a:extLst>
          </p:cNvPr>
          <p:cNvSpPr txBox="1"/>
          <p:nvPr/>
        </p:nvSpPr>
        <p:spPr>
          <a:xfrm>
            <a:off x="73152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Process  •  Knowledge Repository  •  Architecture Review Agent MVP</a:t>
            </a:r>
            <a:endParaRPr lang="en-US" sz="17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DC0F7506-C51C-13C8-7695-36F3B67882AC}"/>
              </a:ext>
            </a:extLst>
          </p:cNvPr>
          <p:cNvSpPr txBox="1"/>
          <p:nvPr/>
        </p:nvSpPr>
        <p:spPr>
          <a:xfrm>
            <a:off x="731520" y="5715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00" dirty="0"/>
          </a:p>
        </p:txBody>
      </p:sp>
      <p:sp>
        <p:nvSpPr>
          <p:cNvPr id="34" name="Rectangle: Diagonal Corners Rounded 33">
            <a:extLst>
              <a:ext uri="{FF2B5EF4-FFF2-40B4-BE49-F238E27FC236}">
                <a16:creationId xmlns:a16="http://schemas.microsoft.com/office/drawing/2014/main" id="{110BE6A0-12CF-8141-1E5C-D621B39E8074}"/>
              </a:ext>
            </a:extLst>
          </p:cNvPr>
          <p:cNvSpPr/>
          <p:nvPr/>
        </p:nvSpPr>
        <p:spPr>
          <a:xfrm>
            <a:off x="8366170" y="5715000"/>
            <a:ext cx="3274142" cy="274320"/>
          </a:xfrm>
          <a:prstGeom prst="round2Diag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30-MINUTE OVERVIEW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77930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we’re changing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review goes through a small central team, even when the design simply follows existing guidance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2044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0B2F9E"/>
          </a:solidFill>
          <a:ln w="12700">
            <a:solidFill>
              <a:srgbClr val="0B2F9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highlight>
                  <a:srgbClr val="FFE08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[X]</a:t>
            </a:r>
            <a:r>
              <a:rPr lang="en-US" sz="2600" b="1" dirty="0">
                <a:solidFill>
                  <a:srgbClr val="0B2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from review request to decision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34256" y="1554480"/>
            <a:ext cx="352044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08576" y="1783080"/>
            <a:ext cx="640080" cy="6400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19431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08576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highlight>
                  <a:srgbClr val="FFE08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[X]</a:t>
            </a:r>
            <a:r>
              <a:rPr lang="en-US" sz="26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reviews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4608576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Solution Architecture today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19872" y="1554480"/>
            <a:ext cx="352044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94192" y="1783080"/>
            <a:ext cx="640080" cy="64008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212" y="194310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94192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highlight>
                  <a:srgbClr val="FFE08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[X]</a:t>
            </a:r>
            <a:r>
              <a:rPr lang="en-US" sz="26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requests</a:t>
            </a:r>
            <a:endParaRPr lang="en-US" sz="2600" dirty="0"/>
          </a:p>
        </p:txBody>
      </p:sp>
      <p:sp>
        <p:nvSpPr>
          <p:cNvPr id="22" name="Text 17"/>
          <p:cNvSpPr txBox="1"/>
          <p:nvPr/>
        </p:nvSpPr>
        <p:spPr>
          <a:xfrm>
            <a:off x="8394192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separately for one typical Application (one per asset)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3611880"/>
            <a:ext cx="5440680" cy="1874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8640" y="3611880"/>
            <a:ext cx="82296" cy="1874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37947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causes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" y="4206240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wait on reviews that are routine conformance checks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spend time answering the same questions again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gets re-explained review after review instead of written down once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6199632" y="3611880"/>
            <a:ext cx="5440680" cy="1874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199632" y="3611880"/>
            <a:ext cx="82296" cy="1874520"/>
          </a:xfrm>
          <a:prstGeom prst="rect">
            <a:avLst/>
          </a:prstGeom>
          <a:solidFill>
            <a:srgbClr val="2E6B1F"/>
          </a:solidFill>
          <a:ln w="12700">
            <a:solidFill>
              <a:srgbClr val="2E6B1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473952" y="37947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instead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6473952" y="4206240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designs approved close to the team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focused on exceptions, new direction, and material risk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written once, published, and reused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548640" y="5650992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22960" y="5650992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remove the queue without lowering the bar.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outcome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model before portfolio-specific onboarding begins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97380" y="1508760"/>
            <a:ext cx="822960" cy="822960"/>
          </a:xfrm>
          <a:prstGeom prst="ellipse">
            <a:avLst/>
          </a:prstGeom>
          <a:solidFill>
            <a:srgbClr val="0B2F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973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52044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14600"/>
            <a:ext cx="82296" cy="2103120"/>
          </a:xfrm>
          <a:prstGeom prst="rect">
            <a:avLst/>
          </a:prstGeom>
          <a:solidFill>
            <a:srgbClr val="0B2F9E"/>
          </a:solidFill>
          <a:ln w="12700">
            <a:solidFill>
              <a:srgbClr val="0B2F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697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model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172968"/>
            <a:ext cx="30632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routine, conforming designs are reviewed within the portfolio while exceptions and higher-risk decisions move to Solution Architecture.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82996" y="1508760"/>
            <a:ext cx="822960" cy="822960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82996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334256" y="2514600"/>
            <a:ext cx="352044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4256" y="2514600"/>
            <a:ext cx="82296" cy="2103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08576" y="2697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enabling tools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08576" y="3172968"/>
            <a:ext cx="30632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Knowledge Repository provides governed guidance and how the Architecture Review Agent uses it to help teams and reviewers.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468612" y="1508760"/>
            <a:ext cx="822960" cy="822960"/>
          </a:xfrm>
          <a:prstGeom prst="ellipse">
            <a:avLst/>
          </a:prstGeom>
          <a:solidFill>
            <a:srgbClr val="2E6B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68612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119872" y="2514600"/>
            <a:ext cx="352044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2514600"/>
            <a:ext cx="82296" cy="2103120"/>
          </a:xfrm>
          <a:prstGeom prst="rect">
            <a:avLst/>
          </a:prstGeom>
          <a:solidFill>
            <a:srgbClr val="2E6B1F"/>
          </a:solidFill>
          <a:ln w="12700">
            <a:solidFill>
              <a:srgbClr val="2E6B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94192" y="2697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happens next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3172968"/>
            <a:ext cx="30632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team prepares, what Portfolio Reviewers own, and the onboarding path with dates and contacts.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11091672" cy="1143000"/>
          </a:xfrm>
          <a:prstGeom prst="rect">
            <a:avLst/>
          </a:prstGeom>
          <a:solidFill>
            <a:srgbClr val="EEF2F8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56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end, you should be able to answer: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submit?   •   Who approves it?   •   When does it escalate?   •   What do we do next?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capabilities that reinforce each other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escalation decided today becomes reusable guidance for the next design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645920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17285A"/>
          </a:solidFill>
          <a:ln w="22225">
            <a:solidFill>
              <a:srgbClr val="2E86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63240" y="16459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Team designs &amp; pre-checks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Patterns and Standards; runs the Review 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93792" y="3246120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17285A"/>
          </a:solidFill>
          <a:ln w="22225">
            <a:solidFill>
              <a:srgbClr val="3A9A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30952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Portfolio Reviewer approves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designs stay in the portfolio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4846320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17285A"/>
          </a:solidFill>
          <a:ln w="22225">
            <a:solidFill>
              <a:srgbClr val="D982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48463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Solution Architecture decides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Amber/Red exceptions and new direction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246120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17285A"/>
          </a:solidFill>
          <a:ln w="22225">
            <a:solidFill>
              <a:srgbClr val="8FA8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Decisions become guidance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ADRs and Patterns published to the repository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3200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loop adds reusable guidance, so more designs clear as Green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92440" y="1463040"/>
            <a:ext cx="3547872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1645920"/>
            <a:ext cx="502920" cy="5029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050" y="1771650"/>
            <a:ext cx="251460" cy="2514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915400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human review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2212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judgment: Portfolio Reviewers, Solution Architects, domain specialists.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092440" y="3063240"/>
            <a:ext cx="3547872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75320" y="3246120"/>
            <a:ext cx="502920" cy="502920"/>
          </a:xfrm>
          <a:prstGeom prst="ellipse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050" y="3371850"/>
            <a:ext cx="251460" cy="2514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91540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Knowledge Repository</a:t>
            </a:r>
            <a:endParaRPr lang="en-US" sz="1450" dirty="0"/>
          </a:p>
        </p:txBody>
      </p:sp>
      <p:sp>
        <p:nvSpPr>
          <p:cNvPr id="31" name="Text 27"/>
          <p:cNvSpPr txBox="1"/>
          <p:nvPr/>
        </p:nvSpPr>
        <p:spPr>
          <a:xfrm>
            <a:off x="8275320" y="38130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guidance reusable: Patterns, Standards, ADRs, reference architectures.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092440" y="4663440"/>
            <a:ext cx="3547872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275320" y="4846320"/>
            <a:ext cx="502920" cy="502920"/>
          </a:xfrm>
          <a:prstGeom prst="ellipse">
            <a:avLst/>
          </a:prstGeom>
          <a:solidFill>
            <a:srgbClr val="3A9A5B"/>
          </a:solidFill>
          <a:ln w="12700">
            <a:solidFill>
              <a:srgbClr val="3A9A5B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050" y="4972050"/>
            <a:ext cx="251460" cy="2514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915400" y="4846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validation</a:t>
            </a:r>
            <a:endParaRPr lang="en-US" sz="1450" dirty="0"/>
          </a:p>
        </p:txBody>
      </p:sp>
      <p:sp>
        <p:nvSpPr>
          <p:cNvPr id="36" name="Text 31"/>
          <p:cNvSpPr txBox="1"/>
          <p:nvPr/>
        </p:nvSpPr>
        <p:spPr>
          <a:xfrm>
            <a:off x="8275320" y="54132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feedback earlier: checks designs against the repository before review.</a:t>
            </a:r>
            <a:endParaRPr lang="en-US" sz="1200" dirty="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F4E1D49-43C9-F9A4-F3B7-204B310E2343}"/>
              </a:ext>
            </a:extLst>
          </p:cNvPr>
          <p:cNvCxnSpPr>
            <a:stCxn id="12" idx="2"/>
            <a:endCxn id="13" idx="3"/>
          </p:cNvCxnSpPr>
          <p:nvPr/>
        </p:nvCxnSpPr>
        <p:spPr>
          <a:xfrm rot="5400000">
            <a:off x="5397246" y="4295394"/>
            <a:ext cx="1097280" cy="1010412"/>
          </a:xfrm>
          <a:prstGeom prst="bentConnector2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6EDA155F-9756-A5CA-FDFD-BD4E09394953}"/>
              </a:ext>
            </a:extLst>
          </p:cNvPr>
          <p:cNvCxnSpPr>
            <a:stCxn id="13" idx="1"/>
            <a:endCxn id="16" idx="2"/>
          </p:cNvCxnSpPr>
          <p:nvPr/>
        </p:nvCxnSpPr>
        <p:spPr>
          <a:xfrm rot="10800000">
            <a:off x="1920240" y="4251960"/>
            <a:ext cx="1005840" cy="1097280"/>
          </a:xfrm>
          <a:prstGeom prst="bentConnector2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E4A88B0-19D7-7C59-40AE-0543E605FAEF}"/>
              </a:ext>
            </a:extLst>
          </p:cNvPr>
          <p:cNvCxnSpPr>
            <a:stCxn id="16" idx="0"/>
            <a:endCxn id="9" idx="1"/>
          </p:cNvCxnSpPr>
          <p:nvPr/>
        </p:nvCxnSpPr>
        <p:spPr>
          <a:xfrm rot="5400000" flipH="1" flipV="1">
            <a:off x="1872234" y="2192274"/>
            <a:ext cx="1097280" cy="1010412"/>
          </a:xfrm>
          <a:prstGeom prst="bentConnector2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ACF809BA-A05A-1A62-DBF3-3AEAC580C9E1}"/>
              </a:ext>
            </a:extLst>
          </p:cNvPr>
          <p:cNvCxnSpPr>
            <a:stCxn id="9" idx="3"/>
            <a:endCxn id="12" idx="0"/>
          </p:cNvCxnSpPr>
          <p:nvPr/>
        </p:nvCxnSpPr>
        <p:spPr>
          <a:xfrm>
            <a:off x="5440680" y="2148840"/>
            <a:ext cx="1010412" cy="1097280"/>
          </a:xfrm>
          <a:prstGeom prst="bentConnector2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 per Application, with the same rigor for every asset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tracking move to the Application level; asset-level requirements stay the same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577840" cy="4526280"/>
          </a:xfrm>
          <a:prstGeom prst="rect">
            <a:avLst/>
          </a:prstGeom>
          <a:solidFill>
            <a:srgbClr val="EEF2F8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6916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3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Application-level request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 flipV="1">
            <a:off x="1554480" y="3063240"/>
            <a:ext cx="1783080" cy="548640"/>
          </a:xfrm>
          <a:prstGeom prst="line">
            <a:avLst/>
          </a:prstGeom>
          <a:noFill/>
          <a:ln w="22225">
            <a:solidFill>
              <a:srgbClr val="1A3A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3063240"/>
            <a:ext cx="0" cy="548640"/>
          </a:xfrm>
          <a:prstGeom prst="line">
            <a:avLst/>
          </a:prstGeom>
          <a:noFill/>
          <a:ln w="22225">
            <a:solidFill>
              <a:srgbClr val="1A3A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063240"/>
            <a:ext cx="1783080" cy="548640"/>
          </a:xfrm>
          <a:prstGeom prst="line">
            <a:avLst/>
          </a:prstGeom>
          <a:noFill/>
          <a:ln w="22225">
            <a:solidFill>
              <a:srgbClr val="1A3A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2423160"/>
            <a:ext cx="2743200" cy="640080"/>
          </a:xfrm>
          <a:prstGeom prst="rect">
            <a:avLst/>
          </a:prstGeom>
          <a:solidFill>
            <a:srgbClr val="D9EFD9"/>
          </a:solidFill>
          <a:ln w="15875">
            <a:solidFill>
              <a:srgbClr val="3C8D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6596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5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3611880"/>
            <a:ext cx="155448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A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11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Module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3611880"/>
            <a:ext cx="155448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A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60320" y="3611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Service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43400" y="3611880"/>
            <a:ext cx="155448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A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43400" y="3611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526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request covers the Modules, Services, and Interfaces that together make up the Application.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440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= Backend for Frontend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1508760"/>
            <a:ext cx="5239512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1508760"/>
            <a:ext cx="82296" cy="1828800"/>
          </a:xfrm>
          <a:prstGeom prst="rect">
            <a:avLst/>
          </a:prstGeom>
          <a:solidFill>
            <a:srgbClr val="0B2F9E"/>
          </a:solidFill>
          <a:ln w="12700">
            <a:solidFill>
              <a:srgbClr val="0B2F9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1691640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changes, and what you gain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2148840"/>
            <a:ext cx="47823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 Review request and one consolidated PC2 Design Tollgate entry for the whole Application.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2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ticket instead of </a:t>
            </a:r>
            <a:r>
              <a:rPr lang="en-US" sz="13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one tollgate entry, one conversation.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3520440"/>
            <a:ext cx="5239512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3520440"/>
            <a:ext cx="82296" cy="1828800"/>
          </a:xfrm>
          <a:prstGeom prst="rect">
            <a:avLst/>
          </a:prstGeom>
          <a:solidFill>
            <a:srgbClr val="2E6B1F"/>
          </a:solidFill>
          <a:ln w="12700">
            <a:solidFill>
              <a:srgbClr val="2E6B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3703320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not change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4114800"/>
            <a:ext cx="47823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participating software asset is still reviewed.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repository keeps its Architecture directory.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ADRs, and Standards remain asset-specific.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review deliverables stay in place.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504688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86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capabilities used by several Applications are still governed separately.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review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conformance stays close to the portfolio; architectural judgment escalates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719072" cy="3429000"/>
          </a:xfrm>
          <a:prstGeom prst="rect">
            <a:avLst/>
          </a:prstGeom>
          <a:solidFill>
            <a:srgbClr val="EEF3FB"/>
          </a:solidFill>
          <a:ln w="15875">
            <a:solidFill>
              <a:srgbClr val="9DB3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1627632"/>
            <a:ext cx="640080" cy="640080"/>
          </a:xfrm>
          <a:prstGeom prst="ellipse">
            <a:avLst/>
          </a:prstGeom>
          <a:solidFill>
            <a:srgbClr val="0B2F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3317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92608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PC2 and app/repo; write documentation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86784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3A9A5B"/>
          </a:solidFill>
          <a:ln w="12700">
            <a:solidFill>
              <a:srgbClr val="3A9A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8678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pre-check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407408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074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3063240"/>
            <a:ext cx="118872" cy="201168"/>
          </a:xfrm>
          <a:prstGeom prst="rightArrow">
            <a:avLst/>
          </a:prstGeom>
          <a:solidFill>
            <a:srgbClr val="9DB3DB"/>
          </a:solidFill>
          <a:ln w="12700">
            <a:solidFill>
              <a:srgbClr val="9DB3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1463040"/>
            <a:ext cx="1719072" cy="3429000"/>
          </a:xfrm>
          <a:prstGeom prst="rect">
            <a:avLst/>
          </a:prstGeom>
          <a:solidFill>
            <a:srgbClr val="EEF3FB"/>
          </a:solidFill>
          <a:ln w="15875">
            <a:solidFill>
              <a:srgbClr val="9DB3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62656" y="1627632"/>
            <a:ext cx="640080" cy="640080"/>
          </a:xfrm>
          <a:prstGeom prst="ellipse">
            <a:avLst/>
          </a:prstGeom>
          <a:solidFill>
            <a:srgbClr val="0B2F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62656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2496312" y="23317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532888" y="292608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Architecture Review request in Jira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14600" y="4407408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3A9A5B"/>
          </a:solidFill>
          <a:ln w="12700">
            <a:solidFill>
              <a:srgbClr val="3A9A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14600" y="44074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findings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60520" y="3063240"/>
            <a:ext cx="118872" cy="201168"/>
          </a:xfrm>
          <a:prstGeom prst="rightArrow">
            <a:avLst/>
          </a:prstGeom>
          <a:solidFill>
            <a:srgbClr val="9DB3DB"/>
          </a:solidFill>
          <a:ln w="12700">
            <a:solidFill>
              <a:srgbClr val="9DB3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1463040"/>
            <a:ext cx="1719072" cy="3429000"/>
          </a:xfrm>
          <a:prstGeom prst="rect">
            <a:avLst/>
          </a:prstGeom>
          <a:solidFill>
            <a:srgbClr val="EEF3FB"/>
          </a:solidFill>
          <a:ln w="15875">
            <a:solidFill>
              <a:srgbClr val="9DB3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37176" y="1627632"/>
            <a:ext cx="640080" cy="640080"/>
          </a:xfrm>
          <a:prstGeom prst="ellipse">
            <a:avLst/>
          </a:prstGeom>
          <a:solidFill>
            <a:srgbClr val="0B2F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37176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370832" y="23317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292608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documentation and assess conformance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0" y="3986784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3A9A5B"/>
          </a:solidFill>
          <a:ln w="12700">
            <a:solidFill>
              <a:srgbClr val="3A9A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89120" y="398678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assist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89120" y="4407408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89120" y="44074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guidance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3063240"/>
            <a:ext cx="118872" cy="201168"/>
          </a:xfrm>
          <a:prstGeom prst="rightArrow">
            <a:avLst/>
          </a:prstGeom>
          <a:solidFill>
            <a:srgbClr val="9DB3DB"/>
          </a:solidFill>
          <a:ln w="12700">
            <a:solidFill>
              <a:srgbClr val="9DB3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1463040"/>
            <a:ext cx="1719072" cy="3429000"/>
          </a:xfrm>
          <a:prstGeom prst="rect">
            <a:avLst/>
          </a:prstGeom>
          <a:solidFill>
            <a:srgbClr val="FDF3E7"/>
          </a:solidFill>
          <a:ln w="15875">
            <a:solidFill>
              <a:srgbClr val="E0A0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11696" y="1627632"/>
            <a:ext cx="640080" cy="640080"/>
          </a:xfrm>
          <a:prstGeom prst="ellipse">
            <a:avLst/>
          </a:prstGeom>
          <a:solidFill>
            <a:srgbClr val="D982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11696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6245352" y="23317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281928" y="292608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assigns Green, Amber, or Red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63640" y="4407408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63640" y="44074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09560" y="3063240"/>
            <a:ext cx="118872" cy="201168"/>
          </a:xfrm>
          <a:prstGeom prst="rightArrow">
            <a:avLst/>
          </a:prstGeom>
          <a:solidFill>
            <a:srgbClr val="9DB3DB"/>
          </a:solidFill>
          <a:ln w="12700">
            <a:solidFill>
              <a:srgbClr val="9DB3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0" y="1463040"/>
            <a:ext cx="1719072" cy="3429000"/>
          </a:xfrm>
          <a:prstGeom prst="rect">
            <a:avLst/>
          </a:prstGeom>
          <a:solidFill>
            <a:srgbClr val="EFF5EE"/>
          </a:solidFill>
          <a:ln w="15875">
            <a:solidFill>
              <a:srgbClr val="8DBF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86216" y="1627632"/>
            <a:ext cx="640080" cy="640080"/>
          </a:xfrm>
          <a:prstGeom prst="ellipse">
            <a:avLst/>
          </a:prstGeom>
          <a:solidFill>
            <a:srgbClr val="2E6B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86216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8119872" y="23317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Escalate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8156448" y="292608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approves Green; Solution Architecture decides Amber/Red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38160" y="4407408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38160" y="44074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spot-checks Green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784080" y="3063240"/>
            <a:ext cx="118872" cy="201168"/>
          </a:xfrm>
          <a:prstGeom prst="rightArrow">
            <a:avLst/>
          </a:prstGeom>
          <a:solidFill>
            <a:srgbClr val="9DB3DB"/>
          </a:solidFill>
          <a:ln w="12700">
            <a:solidFill>
              <a:srgbClr val="9DB3D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21240" y="1463040"/>
            <a:ext cx="1719072" cy="3429000"/>
          </a:xfrm>
          <a:prstGeom prst="rect">
            <a:avLst/>
          </a:prstGeom>
          <a:solidFill>
            <a:srgbClr val="EFF5EE"/>
          </a:solidFill>
          <a:ln w="15875">
            <a:solidFill>
              <a:srgbClr val="8DBF8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460736" y="1627632"/>
            <a:ext cx="640080" cy="640080"/>
          </a:xfrm>
          <a:prstGeom prst="ellipse">
            <a:avLst/>
          </a:prstGeom>
          <a:solidFill>
            <a:srgbClr val="2E6B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460736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55" name="Text 53"/>
          <p:cNvSpPr txBox="1"/>
          <p:nvPr/>
        </p:nvSpPr>
        <p:spPr>
          <a:xfrm>
            <a:off x="9994392" y="233172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&amp; Close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10030968" y="292608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ITG review, final status, Jira closure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012680" y="4407408"/>
            <a:ext cx="1536192" cy="347472"/>
          </a:xfrm>
          <a:prstGeom prst="roundRect">
            <a:avLst>
              <a:gd name="adj" fmla="val 15789"/>
            </a:avLst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012680" y="44074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new ADRs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48640" y="5047488"/>
            <a:ext cx="274320" cy="219456"/>
          </a:xfrm>
          <a:prstGeom prst="roundRect">
            <a:avLst>
              <a:gd name="adj" fmla="val 25000"/>
            </a:avLst>
          </a:prstGeom>
          <a:solidFill>
            <a:srgbClr val="3A9A5B"/>
          </a:solidFill>
          <a:ln w="12700">
            <a:solidFill>
              <a:srgbClr val="3A9A5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14400" y="5029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2651760" y="5047488"/>
            <a:ext cx="274320" cy="219456"/>
          </a:xfrm>
          <a:prstGeom prst="roundRect">
            <a:avLst>
              <a:gd name="adj" fmla="val 25000"/>
            </a:avLst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017520" y="5029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Repository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754880" y="5047488"/>
            <a:ext cx="274320" cy="219456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120640" y="5029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6858000" y="5001768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Rework goes back to Prepare without closing and reopening the Architecture Review or Tollgate record.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548640" y="5577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= </a:t>
            </a:r>
            <a:r>
              <a:rPr lang="en-US" sz="11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[spell out]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ITG = </a:t>
            </a:r>
            <a:r>
              <a:rPr lang="en-US" sz="11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[spell out]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Tollgate = </a:t>
            </a:r>
            <a:r>
              <a:rPr lang="en-US" sz="11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[one-line definition]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designs stay in the portfolio; exceptions escalate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deviations, and risk decide whether the portfolio can approve or must escalate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81328"/>
            <a:ext cx="6812280" cy="914400"/>
          </a:xfrm>
          <a:prstGeom prst="rect">
            <a:avLst/>
          </a:prstGeom>
          <a:solidFill>
            <a:srgbClr val="EEF4EC"/>
          </a:solidFill>
          <a:ln w="19050">
            <a:solidFill>
              <a:srgbClr val="2E6B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09928"/>
            <a:ext cx="457200" cy="457200"/>
          </a:xfrm>
          <a:prstGeom prst="ellipse">
            <a:avLst/>
          </a:prstGeom>
          <a:solidFill>
            <a:srgbClr val="2E6B1F"/>
          </a:solidFill>
          <a:ln w="12700">
            <a:solidFill>
              <a:srgbClr val="2E6B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481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4813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applicable guidance with no material exceptions.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48132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Reviewer approves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6812280" cy="914400"/>
          </a:xfrm>
          <a:prstGeom prst="rect">
            <a:avLst/>
          </a:prstGeom>
          <a:solidFill>
            <a:srgbClr val="FCF3E6"/>
          </a:solidFill>
          <a:ln w="19050">
            <a:solidFill>
              <a:srgbClr val="E08E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E08E1B"/>
          </a:solidFill>
          <a:ln w="12700">
            <a:solidFill>
              <a:srgbClr val="E08E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6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514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Uncertainty, architectural risk, or a controlled deviation.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advice; escalate if an Amber criterion applies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547872"/>
            <a:ext cx="6812280" cy="914400"/>
          </a:xfrm>
          <a:prstGeom prst="rect">
            <a:avLst/>
          </a:prstGeom>
          <a:solidFill>
            <a:srgbClr val="F9EC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77647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25880" y="3547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1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354787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exception, new direction, material risk, or conflict with mandatory guidance.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54787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review required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45152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escalation triggers: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technology • mandatory-standard exception • pattern deviation • ADR conflict • cross-domain impact • significant security, data, resiliency, or external-integration risk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5780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escalation criteria: </a:t>
            </a:r>
            <a:r>
              <a:rPr lang="en-US" sz="115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[link or one-line summary]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89520" y="1481328"/>
            <a:ext cx="4050792" cy="196596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1481328"/>
            <a:ext cx="82296" cy="1965960"/>
          </a:xfrm>
          <a:prstGeom prst="rect">
            <a:avLst/>
          </a:prstGeom>
          <a:solidFill>
            <a:srgbClr val="0B2F9E"/>
          </a:solidFill>
          <a:ln w="12700">
            <a:solidFill>
              <a:srgbClr val="0B2F9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0" y="1664208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Reviewer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2011680"/>
            <a:ext cx="35935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senior engineer or architect in your portfolio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reviews a design they wrote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the Green/Amber/Red classification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Green within delegated authority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0" y="3566160"/>
            <a:ext cx="4050792" cy="196596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566160"/>
            <a:ext cx="82296" cy="196596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63840" y="374904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4096512"/>
            <a:ext cx="35935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Amber/Red escalations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Spot-checks </a:t>
            </a:r>
            <a:r>
              <a:rPr lang="en-US" sz="12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Green approvals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disputed classifications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in ODT/ARC specialists when needed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650992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650992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package = completed conformance review + evidence + the specific decision needed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team prepares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submission goes straight into Portfolio Review; an incomplete one comes back for rework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40680" cy="397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0B2F9E"/>
          </a:solidFill>
          <a:ln w="12700">
            <a:solidFill>
              <a:srgbClr val="0B2F9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63040" y="1691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asset’s Architecture directory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46888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overview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design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design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Asset-specific ADRs for significant decisions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99632" y="1508760"/>
            <a:ext cx="5440680" cy="397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28232" y="1691640"/>
            <a:ext cx="548640" cy="548640"/>
          </a:xfrm>
          <a:prstGeom prst="ellipse">
            <a:avLst/>
          </a:prstGeom>
          <a:solidFill>
            <a:srgbClr val="2E6B1F"/>
          </a:solidFill>
          <a:ln w="12700">
            <a:solidFill>
              <a:srgbClr val="2E6B1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8288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14032" y="1691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submit when…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519672" y="246888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is created and each app/repo is linked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participating asset’s Architecture directory is complete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Patterns, Standards, and ADRs are listed with evidence of conformance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Agent pre-check has been run; findings are resolved or explained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deviations are stated up front, not left for the reviewer to find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5650992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960" y="5650992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and worked examples are provided during onboarding: </a:t>
            </a:r>
            <a:r>
              <a:rPr lang="en-US" sz="14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[link to templates]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Repository: the governed source for review guidance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“Review once, reuse many times” depends on clear, discoverable, approved content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520440" cy="178308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82296" cy="1783080"/>
          </a:xfrm>
          <a:prstGeom prst="rect">
            <a:avLst/>
          </a:prstGeom>
          <a:solidFill>
            <a:srgbClr val="0B2F9E"/>
          </a:solidFill>
          <a:ln w="12700">
            <a:solidFill>
              <a:srgbClr val="0B2F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6916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075688"/>
            <a:ext cx="30632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solution approaches for recurring business and technical challenges.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2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 through reuse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4256" y="1508760"/>
            <a:ext cx="3520440" cy="178308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4256" y="1508760"/>
            <a:ext cx="82296" cy="1783080"/>
          </a:xfrm>
          <a:prstGeom prst="rect">
            <a:avLst/>
          </a:prstGeom>
          <a:solidFill>
            <a:srgbClr val="2E6B1F"/>
          </a:solidFill>
          <a:ln w="12700">
            <a:solidFill>
              <a:srgbClr val="2E6B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08576" y="16916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2075688"/>
            <a:ext cx="30632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enterprise expectations and guardrails.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Consistency, reliability, and reduced risk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9872" y="1508760"/>
            <a:ext cx="3520440" cy="178308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1508760"/>
            <a:ext cx="82296" cy="178308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94192" y="16916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2075688"/>
            <a:ext cx="30632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decisions with context, rationale, and consequences.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and consistent decisions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team uses it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3520440" cy="914400"/>
          </a:xfrm>
          <a:prstGeom prst="rect">
            <a:avLst/>
          </a:prstGeom>
          <a:solidFill>
            <a:srgbClr val="EEF2F8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840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designing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 approved Pattern instead of a blank page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114800" y="4187952"/>
            <a:ext cx="173736" cy="219456"/>
          </a:xfrm>
          <a:prstGeom prst="rightArrow">
            <a:avLst/>
          </a:prstGeom>
          <a:solidFill>
            <a:srgbClr val="9DB3DB"/>
          </a:solidFill>
          <a:ln w="12700">
            <a:solidFill>
              <a:srgbClr val="9DB3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4256" y="3840480"/>
            <a:ext cx="3520440" cy="914400"/>
          </a:xfrm>
          <a:prstGeom prst="rect">
            <a:avLst/>
          </a:prstGeom>
          <a:solidFill>
            <a:srgbClr val="EEF2F8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17136" y="3840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review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the Standards and ADRs your design follows as evidence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00416" y="4187952"/>
            <a:ext cx="173736" cy="219456"/>
          </a:xfrm>
          <a:prstGeom prst="rightArrow">
            <a:avLst/>
          </a:prstGeom>
          <a:solidFill>
            <a:srgbClr val="9DB3DB"/>
          </a:solidFill>
          <a:ln w="12700">
            <a:solidFill>
              <a:srgbClr val="9DB3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19872" y="3840480"/>
            <a:ext cx="3520440" cy="914400"/>
          </a:xfrm>
          <a:prstGeom prst="rect">
            <a:avLst/>
          </a:prstGeom>
          <a:solidFill>
            <a:srgbClr val="EEF2F8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02752" y="3840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escalation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Architecture’s decision is published as an ADR or Pattern for the next team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93776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is the authored, version-controlled source. Confluence is the published, searchable view of approved content.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today: </a:t>
            </a:r>
            <a:r>
              <a:rPr lang="en-US" sz="1300" b="1" i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Patterns · </a:t>
            </a:r>
            <a:r>
              <a:rPr lang="en-US" sz="1300" b="1" i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Standards · </a:t>
            </a:r>
            <a:r>
              <a:rPr lang="en-US" sz="1300" b="1" i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ADRs. Anyone can contribute through the governed submission and approval process.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Review Agent MVP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moves feedback earlier, but the human reviewer stays accountable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7285A"/>
          </a:solidFill>
          <a:ln w="22225">
            <a:solidFill>
              <a:srgbClr val="0B2F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directory content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63824" y="1901952"/>
            <a:ext cx="201168" cy="274320"/>
          </a:xfrm>
          <a:prstGeom prst="rightArrow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50876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7285A"/>
          </a:solidFill>
          <a:ln w="22225">
            <a:solidFill>
              <a:srgbClr val="3A9A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47872" y="15087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checks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Patterns, Standards, ADRs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25896" y="1901952"/>
            <a:ext cx="201168" cy="274320"/>
          </a:xfrm>
          <a:prstGeom prst="rightArrow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50876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7285A"/>
          </a:solidFill>
          <a:ln w="22225">
            <a:solidFill>
              <a:srgbClr val="E0A0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9944" y="15087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Alignments · gaps · risks · recommendations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87968" y="1901952"/>
            <a:ext cx="201168" cy="274320"/>
          </a:xfrm>
          <a:prstGeom prst="rightArrow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34856" y="150876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7285A"/>
          </a:solidFill>
          <a:ln w="22225">
            <a:solidFill>
              <a:srgbClr val="D982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72016" y="15087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classifies and approves or escalates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3520440" cy="274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34640"/>
            <a:ext cx="82296" cy="2743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0175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429000"/>
            <a:ext cx="30632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before submitting to catch gaps early.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2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Reviewers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during Portfolio Review to find applicable guidance faster.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from: </a:t>
            </a:r>
            <a:r>
              <a:rPr lang="en-US" sz="13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34256" y="2834640"/>
            <a:ext cx="3520440" cy="274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4256" y="2834640"/>
            <a:ext cx="82296" cy="2743200"/>
          </a:xfrm>
          <a:prstGeom prst="rect">
            <a:avLst/>
          </a:prstGeom>
          <a:solidFill>
            <a:srgbClr val="2E6B1F"/>
          </a:solidFill>
          <a:ln w="12700">
            <a:solidFill>
              <a:srgbClr val="2E6B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08576" y="30175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608576" y="3429000"/>
            <a:ext cx="30632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design documents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alignment with Patterns, Standards, and ADRs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gaps and risks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recommendations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prepare the review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2834640"/>
            <a:ext cx="3520440" cy="274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2834640"/>
            <a:ext cx="82296" cy="2743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94192" y="30175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 (MVP)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394192" y="3429000"/>
            <a:ext cx="30632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classify, or escalate: people do that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anything not published in the repository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context that isn’t written in the documents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[Other known MVP limits]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715000"/>
            <a:ext cx="11091672" cy="41148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71500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improves discovery and consistency. It does not replace reviewer judgment or approval authority.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onboarding path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portfolio joins through structured onboarding, role preparation, and coached practice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651760" cy="402336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0B2F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[Weeks 1–2]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51460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participants, reviewer candidates, and the first Application in scope.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2286000" cy="0"/>
          </a:xfrm>
          <a:prstGeom prst="line">
            <a:avLst/>
          </a:prstGeom>
          <a:noFill/>
          <a:ln w="9525">
            <a:solidFill>
              <a:srgbClr val="C5CF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9319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+ portfolio lead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2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reviewers and pilot Application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64992" y="1508760"/>
            <a:ext cx="2651760" cy="402336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47872" y="1691640"/>
            <a:ext cx="640080" cy="640080"/>
          </a:xfrm>
          <a:prstGeom prst="ellipse">
            <a:avLst/>
          </a:prstGeom>
          <a:solidFill>
            <a:srgbClr val="0B2F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7872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325112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325112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[Weeks 3–4]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47872" y="251460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workflow, Jira, evidence, classification, escalation, repository, and agent.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47872" y="3840480"/>
            <a:ext cx="2286000" cy="0"/>
          </a:xfrm>
          <a:prstGeom prst="line">
            <a:avLst/>
          </a:prstGeom>
          <a:noFill/>
          <a:ln w="9525">
            <a:solidFill>
              <a:srgbClr val="C5CF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47872" y="39319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training team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2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team and reviewers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81344" y="1508760"/>
            <a:ext cx="2651760" cy="402336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64224" y="1691640"/>
            <a:ext cx="640080" cy="640080"/>
          </a:xfrm>
          <a:prstGeom prst="ellipse">
            <a:avLst/>
          </a:prstGeom>
          <a:solidFill>
            <a:srgbClr val="2E8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6422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141464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141464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[Weeks 5–8]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364224" y="251460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Coached reviews on real designs using templates and worked examples.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64224" y="3840480"/>
            <a:ext cx="2286000" cy="0"/>
          </a:xfrm>
          <a:prstGeom prst="line">
            <a:avLst/>
          </a:prstGeom>
          <a:noFill/>
          <a:ln w="9525">
            <a:solidFill>
              <a:srgbClr val="C5CF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64224" y="39319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coach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[2–3]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coached reviews completed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997696" y="1508760"/>
            <a:ext cx="2651760" cy="402336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80576" y="1691640"/>
            <a:ext cx="640080" cy="640080"/>
          </a:xfrm>
          <a:prstGeom prst="ellipse">
            <a:avLst/>
          </a:prstGeom>
          <a:solidFill>
            <a:srgbClr val="2E6B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80576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957816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9957816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[From month X]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180576" y="251460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reviews independently, with Solution Architecture spot-checks and feedback loops.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80576" y="3840480"/>
            <a:ext cx="2286000" cy="0"/>
          </a:xfrm>
          <a:prstGeom prst="line">
            <a:avLst/>
          </a:prstGeom>
          <a:noFill/>
          <a:ln w="9525">
            <a:solidFill>
              <a:srgbClr val="C5CFD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80576" y="39319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Reviewers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E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closed in the portfolio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687568"/>
            <a:ext cx="11091672" cy="41148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" y="5687568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is where detailed procedures, examples, and hands-on expectations are set.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FD1"/>
          </a:solidFill>
          <a:ln w="12700">
            <a:solidFill>
              <a:srgbClr val="1F4F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architecture governance without lowering the bar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82712" y="6382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PENSKE CONFIDENTIAL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4630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routine conformance. Centralize reusable knowledge. Use AI to move guidance earlier. Escalate architectural judgment.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440680" cy="3063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502920" cy="502920"/>
          </a:xfrm>
          <a:prstGeom prst="ellipse">
            <a:avLst/>
          </a:prstGeom>
          <a:solidFill>
            <a:srgbClr val="0B2F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9900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Portfolio Reviewer candidates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</a:t>
            </a:r>
            <a:r>
              <a:rPr lang="en-US" sz="135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840480"/>
            <a:ext cx="502920" cy="502920"/>
          </a:xfrm>
          <a:prstGeom prst="ellipse">
            <a:avLst/>
          </a:prstGeom>
          <a:solidFill>
            <a:srgbClr val="0B2F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7673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first Application for a pilot review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</a:t>
            </a:r>
            <a:r>
              <a:rPr lang="en-US" sz="135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0B2F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5445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scheduling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[Name, email]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99632" y="2423160"/>
            <a:ext cx="5440680" cy="3063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73952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we’ll measure success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73952" y="3063240"/>
            <a:ext cx="2331720" cy="1024128"/>
          </a:xfrm>
          <a:prstGeom prst="rect">
            <a:avLst/>
          </a:prstGeom>
          <a:solidFill>
            <a:srgbClr val="EEF2F8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11112" y="3063240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time</a:t>
            </a:r>
            <a:endParaRPr lang="en-US" sz="115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[Y]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61120" y="3063240"/>
            <a:ext cx="2331720" cy="1024128"/>
          </a:xfrm>
          <a:prstGeom prst="rect">
            <a:avLst/>
          </a:prstGeom>
          <a:solidFill>
            <a:srgbClr val="EEF2F8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98280" y="3063240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closed in the portfolio</a:t>
            </a:r>
            <a:endParaRPr lang="en-US" sz="115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[target]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73952" y="4233672"/>
            <a:ext cx="2331720" cy="1024128"/>
          </a:xfrm>
          <a:prstGeom prst="rect">
            <a:avLst/>
          </a:prstGeom>
          <a:solidFill>
            <a:srgbClr val="EEF2F8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11112" y="4233672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sent back for rework</a:t>
            </a:r>
            <a:endParaRPr lang="en-US" sz="115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</a:t>
            </a:r>
            <a:r>
              <a:rPr lang="en-US" sz="14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[target]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61120" y="4233672"/>
            <a:ext cx="2331720" cy="1024128"/>
          </a:xfrm>
          <a:prstGeom prst="rect">
            <a:avLst/>
          </a:prstGeom>
          <a:solidFill>
            <a:srgbClr val="EEF2F8"/>
          </a:solidFill>
          <a:ln w="12700">
            <a:solidFill>
              <a:srgbClr val="C5CF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98280" y="4233672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reuse</a:t>
            </a:r>
            <a:endParaRPr lang="en-US" sz="115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highlight>
                  <a:srgbClr val="FFE0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new Patterns/ADRs per quarter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577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3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1932</Words>
  <Application>Microsoft Office PowerPoint</Application>
  <PresentationFormat>Widescreen</PresentationFormat>
  <Paragraphs>297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Federated Architecture Review Process (Revised)</dc:title>
  <dc:subject>PptxGenJS Presentation</dc:subject>
  <dc:creator>PptxGenJS</dc:creator>
  <cp:lastModifiedBy>gajendra</cp:lastModifiedBy>
  <cp:revision>2</cp:revision>
  <dcterms:created xsi:type="dcterms:W3CDTF">2026-09-23T18:18:27Z</dcterms:created>
  <dcterms:modified xsi:type="dcterms:W3CDTF">2026-09-24T12:56:23Z</dcterms:modified>
</cp:coreProperties>
</file>