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Federated architecture review. Teams self-review designs against published standards using the Architecture Review Agent. Solution Architecture engages only where the self-review surfaces an exception, a gap in the standards, or a mandatory-review category. The agent is advisory: a named Design Owner attests to self-certified designs, and a named Solution Architect owns each exception review. Self-certified designs enter a sampling audit pool, which is the control that detects false negatives.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Architecture Review — Federated Self-Review Process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30352" y="502920"/>
            <a:ext cx="11567160" cy="1222731"/>
          </a:xfrm>
          <a:prstGeom prst="rect">
            <a:avLst/>
          </a:prstGeom>
          <a:solidFill>
            <a:srgbClr val="FFFFFF"/>
          </a:solidFill>
          <a:ln w="9525">
            <a:solidFill>
              <a:srgbClr val="B0BE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" y="502920"/>
            <a:ext cx="457200" cy="1222731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16200000">
            <a:off x="-309614" y="913118"/>
            <a:ext cx="12227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APT / Design Owner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725651"/>
            <a:ext cx="11567160" cy="1438507"/>
          </a:xfrm>
          <a:prstGeom prst="rect">
            <a:avLst/>
          </a:prstGeom>
          <a:solidFill>
            <a:srgbClr val="FAF7FF"/>
          </a:solidFill>
          <a:ln w="9525">
            <a:solidFill>
              <a:srgbClr val="B0BE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" y="1725651"/>
            <a:ext cx="457200" cy="1438507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16200000">
            <a:off x="-417502" y="2243737"/>
            <a:ext cx="14385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Architecture Review Agent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(automated)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30352" y="3164159"/>
            <a:ext cx="11567160" cy="1222731"/>
          </a:xfrm>
          <a:prstGeom prst="rect">
            <a:avLst/>
          </a:prstGeom>
          <a:solidFill>
            <a:srgbClr val="FFFFFF"/>
          </a:solidFill>
          <a:ln w="9525">
            <a:solidFill>
              <a:srgbClr val="B0BE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3164159"/>
            <a:ext cx="457200" cy="1222731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16200000">
            <a:off x="-309614" y="3574356"/>
            <a:ext cx="12227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Solution Architecture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0352" y="4386890"/>
            <a:ext cx="11567160" cy="1006955"/>
          </a:xfrm>
          <a:prstGeom prst="rect">
            <a:avLst/>
          </a:prstGeom>
          <a:solidFill>
            <a:srgbClr val="F7FAFF"/>
          </a:solidFill>
          <a:ln w="9525">
            <a:solidFill>
              <a:srgbClr val="B0B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" y="4386890"/>
            <a:ext cx="457200" cy="1006955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16200000">
            <a:off x="-201726" y="4689199"/>
            <a:ext cx="10069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ODT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0352" y="5393845"/>
            <a:ext cx="11567160" cy="1006955"/>
          </a:xfrm>
          <a:prstGeom prst="rect">
            <a:avLst/>
          </a:prstGeom>
          <a:solidFill>
            <a:srgbClr val="FFFFFF"/>
          </a:solidFill>
          <a:ln w="9525">
            <a:solidFill>
              <a:srgbClr val="B0BE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" y="5393845"/>
            <a:ext cx="457200" cy="1006955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 rot="16200000">
            <a:off x="-201726" y="5696154"/>
            <a:ext cx="10069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IT Governance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704311"/>
            <a:ext cx="723552" cy="402782"/>
          </a:xfrm>
          <a:prstGeom prst="roundRect">
            <a:avLst>
              <a:gd name="adj" fmla="val 6811"/>
            </a:avLst>
          </a:prstGeom>
          <a:solidFill>
            <a:srgbClr val="C8E6C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704311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B5E20"/>
                </a:solidFill>
              </a:rPr>
              <a:t>Submit design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B5E20"/>
                </a:solidFill>
              </a:rPr>
              <a:t>package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313432" y="1207789"/>
            <a:ext cx="723552" cy="402782"/>
          </a:xfrm>
          <a:prstGeom prst="roundRect">
            <a:avLst>
              <a:gd name="adj" fmla="val 6811"/>
            </a:avLst>
          </a:prstGeom>
          <a:solidFill>
            <a:srgbClr val="C8E6C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13432" y="1207789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B5E20"/>
                </a:solidFill>
              </a:rPr>
              <a:t>Provide missing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B5E20"/>
                </a:solidFill>
              </a:rPr>
              <a:t>details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933188" y="1207789"/>
            <a:ext cx="723552" cy="402782"/>
          </a:xfrm>
          <a:prstGeom prst="roundRect">
            <a:avLst>
              <a:gd name="adj" fmla="val 6811"/>
            </a:avLst>
          </a:prstGeom>
          <a:solidFill>
            <a:srgbClr val="C8E6C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3188" y="1207789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B5E20"/>
                </a:solidFill>
              </a:rPr>
              <a:t>Remediate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B5E20"/>
                </a:solidFill>
              </a:rPr>
              <a:t>design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679692" y="704311"/>
            <a:ext cx="723552" cy="402782"/>
          </a:xfrm>
          <a:prstGeom prst="roundRect">
            <a:avLst>
              <a:gd name="adj" fmla="val 6811"/>
            </a:avLst>
          </a:prstGeom>
          <a:solidFill>
            <a:srgbClr val="C8E6C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9692" y="704311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B5E20"/>
                </a:solidFill>
              </a:rPr>
              <a:t>Self-certify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B5E20"/>
                </a:solidFill>
              </a:rPr>
              <a:t>&amp; attest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172700" y="704311"/>
            <a:ext cx="723552" cy="402782"/>
          </a:xfrm>
          <a:prstGeom prst="roundRect">
            <a:avLst>
              <a:gd name="adj" fmla="val 6811"/>
            </a:avLst>
          </a:prstGeom>
          <a:solidFill>
            <a:srgbClr val="C8E6C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72700" y="704311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B5E20"/>
                </a:solidFill>
              </a:rPr>
              <a:t>Create PL2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B5E20"/>
                </a:solidFill>
              </a:rPr>
              <a:t>entry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440180" y="1869502"/>
            <a:ext cx="723552" cy="402782"/>
          </a:xfrm>
          <a:prstGeom prst="roundRect">
            <a:avLst>
              <a:gd name="adj" fmla="val 6811"/>
            </a:avLst>
          </a:prstGeom>
          <a:solidFill>
            <a:srgbClr val="D1C4E9"/>
          </a:solidFill>
          <a:ln w="15875">
            <a:solidFill>
              <a:srgbClr val="5E35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40180" y="1869502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11B92"/>
                </a:solidFill>
              </a:rPr>
              <a:t>Create Jira task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11B92"/>
                </a:solidFill>
              </a:rPr>
              <a:t>&amp; identify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11B92"/>
                </a:solidFill>
              </a:rPr>
              <a:t>impacted ODTs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313432" y="1869502"/>
            <a:ext cx="723552" cy="402782"/>
          </a:xfrm>
          <a:prstGeom prst="roundRect">
            <a:avLst>
              <a:gd name="adj" fmla="val 6811"/>
            </a:avLst>
          </a:prstGeom>
          <a:solidFill>
            <a:srgbClr val="D1C4E9"/>
          </a:solidFill>
          <a:ln w="15875">
            <a:solidFill>
              <a:srgbClr val="5E35B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1869502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11B92"/>
                </a:solidFill>
              </a:rPr>
              <a:t>Automated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11B92"/>
                </a:solidFill>
              </a:rPr>
              <a:t>readiness check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186684" y="1869502"/>
            <a:ext cx="723552" cy="402782"/>
          </a:xfrm>
          <a:prstGeom prst="roundRect">
            <a:avLst>
              <a:gd name="adj" fmla="val 6811"/>
            </a:avLst>
          </a:prstGeom>
          <a:solidFill>
            <a:srgbClr val="D1C4E9"/>
          </a:solidFill>
          <a:ln w="15875">
            <a:solidFill>
              <a:srgbClr val="5E35B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6684" y="1869502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11B92"/>
                </a:solidFill>
              </a:rPr>
              <a:t>Self-review vs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11B92"/>
                </a:solidFill>
              </a:rPr>
              <a:t>published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11B92"/>
                </a:solidFill>
              </a:rPr>
              <a:t>standards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9299448" y="1869502"/>
            <a:ext cx="723552" cy="402782"/>
          </a:xfrm>
          <a:prstGeom prst="roundRect">
            <a:avLst>
              <a:gd name="adj" fmla="val 6811"/>
            </a:avLst>
          </a:prstGeom>
          <a:solidFill>
            <a:srgbClr val="D1C4E9"/>
          </a:solidFill>
          <a:ln w="15875">
            <a:solidFill>
              <a:srgbClr val="5E35B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99448" y="1869502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11B92"/>
                </a:solidFill>
              </a:rPr>
              <a:t>Generate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11B92"/>
                </a:solidFill>
              </a:rPr>
              <a:t>evidence pack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363332" y="2488060"/>
            <a:ext cx="623751" cy="460322"/>
          </a:xfrm>
          <a:prstGeom prst="diamond">
            <a:avLst/>
          </a:prstGeom>
          <a:solidFill>
            <a:srgbClr val="EDE7F6"/>
          </a:solidFill>
          <a:ln w="15875">
            <a:solidFill>
              <a:srgbClr val="5E35B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63332" y="2488060"/>
            <a:ext cx="623751" cy="46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50" dirty="0">
                <a:solidFill>
                  <a:srgbClr val="311B92"/>
                </a:solidFill>
              </a:rPr>
              <a:t>Ready?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097361" y="1840732"/>
            <a:ext cx="648701" cy="460322"/>
          </a:xfrm>
          <a:prstGeom prst="diamond">
            <a:avLst/>
          </a:prstGeom>
          <a:solidFill>
            <a:srgbClr val="EDE7F6"/>
          </a:solidFill>
          <a:ln w="15875">
            <a:solidFill>
              <a:srgbClr val="5E35B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97361" y="1840732"/>
            <a:ext cx="648701" cy="46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50" dirty="0">
                <a:solidFill>
                  <a:srgbClr val="311B92"/>
                </a:solidFill>
              </a:rPr>
              <a:t>Conformant?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731590" y="1790384"/>
            <a:ext cx="873252" cy="561018"/>
          </a:xfrm>
          <a:prstGeom prst="diamond">
            <a:avLst/>
          </a:prstGeom>
          <a:solidFill>
            <a:srgbClr val="EDE7F6"/>
          </a:solidFill>
          <a:ln w="15875">
            <a:solidFill>
              <a:srgbClr val="5E35B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31590" y="1790384"/>
            <a:ext cx="873252" cy="561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311B92"/>
                </a:solidFill>
              </a:rPr>
              <a:t>Exception, gap,</a:t>
            </a:r>
            <a:endParaRPr lang="en-US" sz="6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311B92"/>
                </a:solidFill>
              </a:rPr>
              <a:t>or mandatory?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6679692" y="3308009"/>
            <a:ext cx="723552" cy="402782"/>
          </a:xfrm>
          <a:prstGeom prst="roundRect">
            <a:avLst>
              <a:gd name="adj" fmla="val 6811"/>
            </a:avLst>
          </a:prstGeom>
          <a:solidFill>
            <a:srgbClr val="CFD8DC"/>
          </a:solidFill>
          <a:ln w="15875">
            <a:solidFill>
              <a:srgbClr val="3747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9692" y="3308009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63238"/>
                </a:solidFill>
              </a:rPr>
              <a:t>Targeted review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63238"/>
                </a:solidFill>
              </a:rPr>
              <a:t>scoped to the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63238"/>
                </a:solidFill>
              </a:rPr>
              <a:t>exception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426196" y="3308009"/>
            <a:ext cx="723552" cy="402782"/>
          </a:xfrm>
          <a:prstGeom prst="roundRect">
            <a:avLst>
              <a:gd name="adj" fmla="val 6811"/>
            </a:avLst>
          </a:prstGeom>
          <a:solidFill>
            <a:srgbClr val="CFD8DC"/>
          </a:solidFill>
          <a:ln w="15875">
            <a:solidFill>
              <a:srgbClr val="3747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26196" y="3308009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63238"/>
                </a:solidFill>
              </a:rPr>
              <a:t>Document ODT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63238"/>
                </a:solidFill>
              </a:rPr>
              <a:t>&amp; exception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63238"/>
                </a:solidFill>
              </a:rPr>
              <a:t>decisions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1045952" y="3308009"/>
            <a:ext cx="723552" cy="402782"/>
          </a:xfrm>
          <a:prstGeom prst="roundRect">
            <a:avLst>
              <a:gd name="adj" fmla="val 6811"/>
            </a:avLst>
          </a:prstGeom>
          <a:solidFill>
            <a:srgbClr val="CFD8DC"/>
          </a:solidFill>
          <a:ln w="15875">
            <a:solidFill>
              <a:srgbClr val="3747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045952" y="3308009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63238"/>
                </a:solidFill>
              </a:rPr>
              <a:t>Close Jira tasks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63238"/>
                </a:solidFill>
              </a:rPr>
              <a:t>ar-complete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1045952" y="3847450"/>
            <a:ext cx="723552" cy="402782"/>
          </a:xfrm>
          <a:prstGeom prst="roundRect">
            <a:avLst>
              <a:gd name="adj" fmla="val 6811"/>
            </a:avLst>
          </a:prstGeom>
          <a:solidFill>
            <a:srgbClr val="CFD8DC"/>
          </a:solidFill>
          <a:ln w="15875">
            <a:solidFill>
              <a:srgbClr val="3747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045952" y="3847450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63238"/>
                </a:solidFill>
              </a:rPr>
              <a:t>Sampling audit of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63238"/>
                </a:solidFill>
              </a:rPr>
              <a:t>self-certified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63238"/>
                </a:solidFill>
              </a:rPr>
              <a:t>designs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552944" y="4602666"/>
            <a:ext cx="723552" cy="402782"/>
          </a:xfrm>
          <a:prstGeom prst="roundRect">
            <a:avLst>
              <a:gd name="adj" fmla="val 6811"/>
            </a:avLst>
          </a:prstGeom>
          <a:solidFill>
            <a:srgbClr val="BBDEFB"/>
          </a:solidFill>
          <a:ln w="15875">
            <a:solidFill>
              <a:srgbClr val="1565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52944" y="4602666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D47A1"/>
                </a:solidFill>
              </a:rPr>
              <a:t>ODT technical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D47A1"/>
                </a:solidFill>
              </a:rPr>
              <a:t>review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476096" y="4573896"/>
            <a:ext cx="623751" cy="460322"/>
          </a:xfrm>
          <a:prstGeom prst="diamond">
            <a:avLst/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76096" y="4573896"/>
            <a:ext cx="623751" cy="46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50" dirty="0">
                <a:solidFill>
                  <a:srgbClr val="0D47A1"/>
                </a:solidFill>
              </a:rPr>
              <a:t>Approved?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0172700" y="5609621"/>
            <a:ext cx="723552" cy="402782"/>
          </a:xfrm>
          <a:prstGeom prst="roundRect">
            <a:avLst>
              <a:gd name="adj" fmla="val 6811"/>
            </a:avLst>
          </a:prstGeom>
          <a:solidFill>
            <a:srgbClr val="FFE0B2"/>
          </a:solidFill>
          <a:ln w="15875">
            <a:solidFill>
              <a:srgbClr val="E651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72700" y="5609621"/>
            <a:ext cx="723552" cy="402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BF360C"/>
                </a:solidFill>
              </a:rPr>
              <a:t>Governance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BF360C"/>
                </a:solidFill>
              </a:rPr>
              <a:t>review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1045952" y="5580851"/>
            <a:ext cx="723552" cy="460322"/>
          </a:xfrm>
          <a:prstGeom prst="diamond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045952" y="5580851"/>
            <a:ext cx="723552" cy="46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50" dirty="0">
                <a:solidFill>
                  <a:srgbClr val="BF360C"/>
                </a:solidFill>
              </a:rPr>
              <a:t>Approved?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928704" y="1107093"/>
            <a:ext cx="0" cy="402782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8704" y="1509875"/>
            <a:ext cx="873252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01956" y="1509875"/>
            <a:ext cx="0" cy="359627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2163732" y="2070893"/>
            <a:ext cx="149700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2675208" y="2272284"/>
            <a:ext cx="0" cy="215776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 flipH="1">
            <a:off x="2138782" y="2718221"/>
            <a:ext cx="224551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2138782" y="1409180"/>
            <a:ext cx="0" cy="1309042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38782" y="1409180"/>
            <a:ext cx="174650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3036984" y="1409180"/>
            <a:ext cx="99800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136784" y="1409180"/>
            <a:ext cx="0" cy="661713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>
            <a:off x="3049459" y="2070893"/>
            <a:ext cx="87325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2987084" y="2718221"/>
            <a:ext cx="112275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3099359" y="2070893"/>
            <a:ext cx="0" cy="647328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99359" y="2070893"/>
            <a:ext cx="87325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3910236" y="2070893"/>
            <a:ext cx="199600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V="1">
            <a:off x="4421712" y="1409180"/>
            <a:ext cx="0" cy="431552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421712" y="1409180"/>
            <a:ext cx="511476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5294964" y="1610571"/>
            <a:ext cx="0" cy="71925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>
            <a:off x="3548460" y="1682496"/>
            <a:ext cx="1746504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48460" y="1682496"/>
            <a:ext cx="0" cy="187006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4733588" y="2070893"/>
            <a:ext cx="998002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V="1">
            <a:off x="6168216" y="905702"/>
            <a:ext cx="0" cy="884682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68216" y="905702"/>
            <a:ext cx="511476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6168216" y="2351402"/>
            <a:ext cx="0" cy="740831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68216" y="3092233"/>
            <a:ext cx="873252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41468" y="3092233"/>
            <a:ext cx="0" cy="215776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7041468" y="3710791"/>
            <a:ext cx="0" cy="604173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041468" y="4314964"/>
            <a:ext cx="873252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914720" y="4314964"/>
            <a:ext cx="0" cy="287701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8276496" y="4804057"/>
            <a:ext cx="199600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8787972" y="5034218"/>
            <a:ext cx="0" cy="158236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6866817" y="5192454"/>
            <a:ext cx="1921154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6866817" y="3710791"/>
            <a:ext cx="0" cy="1481663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 flipV="1">
            <a:off x="8787972" y="3710791"/>
            <a:ext cx="0" cy="863104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7403244" y="905702"/>
            <a:ext cx="1709079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112323" y="905702"/>
            <a:ext cx="0" cy="107888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112323" y="1984583"/>
            <a:ext cx="187125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 flipV="1">
            <a:off x="8787972" y="2171588"/>
            <a:ext cx="0" cy="1136421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87972" y="2171588"/>
            <a:ext cx="511476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V="1">
            <a:off x="9661224" y="905702"/>
            <a:ext cx="0" cy="96380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661224" y="905702"/>
            <a:ext cx="511476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10534476" y="1107093"/>
            <a:ext cx="0" cy="4502528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10896252" y="5811012"/>
            <a:ext cx="149700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 flipV="1">
            <a:off x="11407728" y="3710791"/>
            <a:ext cx="0" cy="187006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11407728" y="6041173"/>
            <a:ext cx="0" cy="201391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6742067" y="6242564"/>
            <a:ext cx="4665661" cy="0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6742067" y="3710791"/>
            <a:ext cx="0" cy="2531773"/>
          </a:xfrm>
          <a:prstGeom prst="line">
            <a:avLst/>
          </a:prstGeom>
          <a:noFill/>
          <a:ln w="1397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11407728" y="3710791"/>
            <a:ext cx="0" cy="136658"/>
          </a:xfrm>
          <a:prstGeom prst="line">
            <a:avLst/>
          </a:prstGeom>
          <a:noFill/>
          <a:ln w="13970">
            <a:solidFill>
              <a:srgbClr val="6D4C41"/>
            </a:solidFill>
            <a:prstDash val="dash"/>
            <a:tailEnd type="triangle"/>
          </a:ln>
        </p:spPr>
      </p:sp>
      <p:sp>
        <p:nvSpPr>
          <p:cNvPr id="107" name="Shape 105"/>
          <p:cNvSpPr/>
          <p:nvPr/>
        </p:nvSpPr>
        <p:spPr>
          <a:xfrm flipH="1">
            <a:off x="3548460" y="4048841"/>
            <a:ext cx="7497492" cy="0"/>
          </a:xfrm>
          <a:prstGeom prst="line">
            <a:avLst/>
          </a:prstGeom>
          <a:noFill/>
          <a:ln w="13970">
            <a:solidFill>
              <a:srgbClr val="6D4C41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 flipV="1">
            <a:off x="3548460" y="2272284"/>
            <a:ext cx="0" cy="1776557"/>
          </a:xfrm>
          <a:prstGeom prst="line">
            <a:avLst/>
          </a:prstGeom>
          <a:noFill/>
          <a:ln w="13970">
            <a:solidFill>
              <a:srgbClr val="6D4C41"/>
            </a:solidFill>
            <a:prstDash val="dash"/>
            <a:tailEnd type="triangle"/>
          </a:ln>
        </p:spPr>
      </p:sp>
      <p:sp>
        <p:nvSpPr>
          <p:cNvPr id="109" name="Text 107"/>
          <p:cNvSpPr/>
          <p:nvPr/>
        </p:nvSpPr>
        <p:spPr>
          <a:xfrm>
            <a:off x="1058091" y="235870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7474F"/>
                </a:solidFill>
              </a:rPr>
              <a:t>No</a:t>
            </a:r>
            <a:endParaRPr lang="en-US" sz="600" dirty="0"/>
          </a:p>
        </p:txBody>
      </p:sp>
      <p:sp>
        <p:nvSpPr>
          <p:cNvPr id="110" name="Text 108"/>
          <p:cNvSpPr/>
          <p:nvPr/>
        </p:nvSpPr>
        <p:spPr>
          <a:xfrm>
            <a:off x="3155496" y="245220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474F"/>
                </a:solidFill>
              </a:rPr>
              <a:t>Yes</a:t>
            </a:r>
            <a:endParaRPr lang="en-US" sz="600" dirty="0"/>
          </a:p>
        </p:txBody>
      </p:sp>
      <p:sp>
        <p:nvSpPr>
          <p:cNvPr id="111" name="Text 109"/>
          <p:cNvSpPr/>
          <p:nvPr/>
        </p:nvSpPr>
        <p:spPr>
          <a:xfrm>
            <a:off x="4496562" y="1164745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474F"/>
                </a:solidFill>
              </a:rPr>
              <a:t>Deviations</a:t>
            </a:r>
            <a:endParaRPr lang="en-US" sz="600" dirty="0"/>
          </a:p>
        </p:txBody>
      </p:sp>
      <p:sp>
        <p:nvSpPr>
          <p:cNvPr id="112" name="Text 110"/>
          <p:cNvSpPr/>
          <p:nvPr/>
        </p:nvSpPr>
        <p:spPr>
          <a:xfrm>
            <a:off x="4858338" y="182645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474F"/>
                </a:solidFill>
              </a:rPr>
              <a:t>Yes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6255541" y="97773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474F"/>
                </a:solidFill>
              </a:rPr>
              <a:t>No exception</a:t>
            </a:r>
            <a:endParaRPr lang="en-US" sz="600" dirty="0"/>
          </a:p>
        </p:txBody>
      </p:sp>
      <p:sp>
        <p:nvSpPr>
          <p:cNvPr id="114" name="Text 112"/>
          <p:cNvSpPr/>
          <p:nvPr/>
        </p:nvSpPr>
        <p:spPr>
          <a:xfrm>
            <a:off x="6274254" y="257448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474F"/>
                </a:solidFill>
              </a:rPr>
              <a:t>Exception / gap /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6274254" y="2689563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474F"/>
                </a:solidFill>
              </a:rPr>
              <a:t>mandatory category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8875297" y="412807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474F"/>
                </a:solidFill>
              </a:rPr>
              <a:t>Approved</a:t>
            </a:r>
            <a:endParaRPr lang="en-US" sz="600" dirty="0"/>
          </a:p>
        </p:txBody>
      </p:sp>
      <p:sp>
        <p:nvSpPr>
          <p:cNvPr id="117" name="Text 115"/>
          <p:cNvSpPr/>
          <p:nvPr/>
        </p:nvSpPr>
        <p:spPr>
          <a:xfrm>
            <a:off x="7552944" y="5192565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474F"/>
                </a:solidFill>
              </a:rPr>
              <a:t>Rework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10302088" y="4732243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7474F"/>
                </a:solidFill>
              </a:rPr>
              <a:t>Approved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7241068" y="6185135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474F"/>
                </a:solidFill>
              </a:rPr>
              <a:t>Rework</a:t>
            </a:r>
            <a:endParaRPr lang="en-US" sz="600" dirty="0"/>
          </a:p>
        </p:txBody>
      </p:sp>
      <p:sp>
        <p:nvSpPr>
          <p:cNvPr id="120" name="Text 118"/>
          <p:cNvSpPr/>
          <p:nvPr/>
        </p:nvSpPr>
        <p:spPr>
          <a:xfrm>
            <a:off x="4122311" y="3902537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6D4C41"/>
                </a:solidFill>
              </a:rPr>
              <a:t>audit findings feed back into standards and agent coverage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566928" y="6528816"/>
            <a:ext cx="237744" cy="155448"/>
          </a:xfrm>
          <a:prstGeom prst="diamond">
            <a:avLst/>
          </a:prstGeom>
          <a:solidFill>
            <a:srgbClr val="EDE7F6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68680" y="65013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74F"/>
                </a:solidFill>
              </a:rPr>
              <a:t>Decision point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965960" y="6606540"/>
            <a:ext cx="365760" cy="0"/>
          </a:xfrm>
          <a:prstGeom prst="line">
            <a:avLst/>
          </a:prstGeom>
          <a:noFill/>
          <a:ln w="13970">
            <a:solidFill>
              <a:srgbClr val="6D4C41"/>
            </a:solidFill>
            <a:prstDash val="dash"/>
          </a:ln>
        </p:spPr>
      </p:sp>
      <p:sp>
        <p:nvSpPr>
          <p:cNvPr id="124" name="Text 122"/>
          <p:cNvSpPr/>
          <p:nvPr/>
        </p:nvSpPr>
        <p:spPr>
          <a:xfrm>
            <a:off x="2395728" y="65013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74F"/>
                </a:solidFill>
              </a:rPr>
              <a:t>Assurance feedback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3794760" y="650138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7474F"/>
                </a:solidFill>
              </a:rPr>
              <a:t>The agent lane is advisory — every approval and attestation is owned by a named person.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Review - Federated Self-Review Process</dc:title>
  <dc:subject>PptxGenJS Presentation</dc:subject>
  <dc:creator>PptxGenJS</dc:creator>
  <cp:lastModifiedBy>PptxGenJS</cp:lastModifiedBy>
  <cp:revision>1</cp:revision>
  <dcterms:created xsi:type="dcterms:W3CDTF">2026-08-06T16:20:28Z</dcterms:created>
  <dcterms:modified xsi:type="dcterms:W3CDTF">2026-08-06T16:20:28Z</dcterms:modified>
</cp:coreProperties>
</file>